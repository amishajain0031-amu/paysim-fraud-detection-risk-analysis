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7" r:id="rId3"/>
    <p:sldId id="271" r:id="rId4"/>
    <p:sldId id="276" r:id="rId5"/>
    <p:sldId id="277" r:id="rId6"/>
    <p:sldId id="272" r:id="rId7"/>
    <p:sldId id="273" r:id="rId8"/>
    <p:sldId id="258" r:id="rId9"/>
    <p:sldId id="259" r:id="rId10"/>
    <p:sldId id="260" r:id="rId11"/>
    <p:sldId id="261" r:id="rId12"/>
    <p:sldId id="274" r:id="rId13"/>
    <p:sldId id="262" r:id="rId14"/>
    <p:sldId id="263" r:id="rId15"/>
    <p:sldId id="264" r:id="rId16"/>
    <p:sldId id="265" r:id="rId17"/>
    <p:sldId id="266" r:id="rId18"/>
    <p:sldId id="267" r:id="rId19"/>
    <p:sldId id="279" r:id="rId20"/>
    <p:sldId id="280" r:id="rId21"/>
    <p:sldId id="281" r:id="rId22"/>
    <p:sldId id="282" r:id="rId23"/>
    <p:sldId id="269" r:id="rId24"/>
    <p:sldId id="278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06" y="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18D6D-D9C2-3BE6-C7E0-C5312883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B4966-8EC2-55A4-2E93-31C0F895D4D1}"/>
              </a:ext>
            </a:extLst>
          </p:cNvPr>
          <p:cNvSpPr txBox="1"/>
          <p:nvPr/>
        </p:nvSpPr>
        <p:spPr>
          <a:xfrm>
            <a:off x="731520" y="457451"/>
            <a:ext cx="660770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0F4F8"/>
                </a:solidFill>
              </a:defRPr>
            </a:pPr>
            <a:r>
              <a:rPr lang="en-IN" sz="6000" dirty="0"/>
              <a:t>Project Introduction</a:t>
            </a:r>
            <a:endParaRPr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5C1389-F3C8-9A99-9506-74B338D0FE75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F10E8C-05E7-E149-E6D1-2F31C2A2FEB0}"/>
              </a:ext>
            </a:extLst>
          </p:cNvPr>
          <p:cNvSpPr txBox="1"/>
          <p:nvPr/>
        </p:nvSpPr>
        <p:spPr>
          <a:xfrm>
            <a:off x="1235242" y="24063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E144A88-0789-46DD-01E2-432E766DD675}"/>
              </a:ext>
            </a:extLst>
          </p:cNvPr>
          <p:cNvSpPr txBox="1">
            <a:spLocks/>
          </p:cNvSpPr>
          <p:nvPr/>
        </p:nvSpPr>
        <p:spPr>
          <a:xfrm>
            <a:off x="593558" y="2165685"/>
            <a:ext cx="10074442" cy="309211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bg1"/>
                </a:solidFill>
              </a:rPr>
              <a:t>My project is a Fraud Risk Analysis Dashboard developed using Power BI, Python, ML, AI. The main objective of this project is to </a:t>
            </a: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 financial transactions and identify potentially fraudulent or high-risk transactions. I used the </a:t>
            </a:r>
            <a:r>
              <a:rPr lang="en-IN" dirty="0" err="1">
                <a:solidFill>
                  <a:schemeClr val="bg1"/>
                </a:solidFill>
              </a:rPr>
              <a:t>PaySim</a:t>
            </a:r>
            <a:r>
              <a:rPr lang="en-IN" dirty="0">
                <a:solidFill>
                  <a:schemeClr val="bg1"/>
                </a:solidFill>
              </a:rPr>
              <a:t> dataset, which contains simulated financial transaction data. I transformed the raw transaction data, created calculated columns and DAX measures, and developed an interactive dashboard to monitor transaction volume, fraud, risk levels, balance utilization, and high-value transactions</a:t>
            </a:r>
          </a:p>
        </p:txBody>
      </p:sp>
    </p:spTree>
    <p:extLst>
      <p:ext uri="{BB962C8B-B14F-4D97-AF65-F5344CB8AC3E}">
        <p14:creationId xmlns:p14="http://schemas.microsoft.com/office/powerpoint/2010/main" val="174909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83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Financial institutions and digital payment platforms process a huge number of transactions every day, making it difficult to manually identify fraudulent transactions. Fraudulent activities can cause significant financial losses, affect customers, and reduce trust in the payment system.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Therefore, businesses need an </a:t>
            </a:r>
            <a:r>
              <a:rPr lang="en-US" b="1" dirty="0">
                <a:highlight>
                  <a:srgbClr val="FFFF00"/>
                </a:highlight>
              </a:rPr>
              <a:t>automated fraud detection system</a:t>
            </a:r>
            <a:r>
              <a:rPr lang="en-US" dirty="0">
                <a:highlight>
                  <a:srgbClr val="FFFF00"/>
                </a:highlight>
              </a:rPr>
              <a:t> that can analyze transactions quickly and identify potentially fraudulent activity.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endParaRPr lang="en-US" dirty="0"/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dirty="0"/>
              <a:t>Goal: analyze mobile-money transactions to identify behavioral, transactional, and balance-related patterns associated with fraud.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dirty="0"/>
              <a:t>Build a model that predicts whether a transaction is legitimate or fraudulent.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dirty="0"/>
              <a:t>Provide a practical fraud-monitoring interface so a user can enter transaction details and receive a prediction.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dirty="0"/>
              <a:t>Important business idea: fraud detection is a highly imbalanced classification problem, so accuracy alone is not enough.</a:t>
            </a:r>
            <a:endParaRPr lang="en-US" dirty="0"/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sz="1900" b="1" dirty="0">
                <a:solidFill>
                  <a:srgbClr val="F0F4F8"/>
                </a:solidFill>
              </a:rPr>
              <a:t>To develop a fraud detection system that can identify suspicious financial transactions and classify them as fraudulent or legitimate, helping financial organizations reduce financial losses and improve transaction security.</a:t>
            </a:r>
            <a:endParaRPr lang="en-US" sz="1900" dirty="0">
              <a:solidFill>
                <a:srgbClr val="F0F4F8"/>
              </a:solidFill>
            </a:endParaRP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FD88F-A843-ED97-9C5D-DA70FB6C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E74E3-C8F2-D8CE-1448-898E68ACA52A}"/>
              </a:ext>
            </a:extLst>
          </p:cNvPr>
          <p:cNvSpPr txBox="1"/>
          <p:nvPr/>
        </p:nvSpPr>
        <p:spPr>
          <a:xfrm>
            <a:off x="4495005" y="347472"/>
            <a:ext cx="31715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0F4F8"/>
                </a:solidFill>
              </a:defRPr>
            </a:pPr>
            <a:r>
              <a:t>1. Business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CD64C-D380-92F9-E38F-3CC3FB01533E}"/>
              </a:ext>
            </a:extLst>
          </p:cNvPr>
          <p:cNvSpPr txBox="1"/>
          <p:nvPr/>
        </p:nvSpPr>
        <p:spPr>
          <a:xfrm>
            <a:off x="731520" y="1325880"/>
            <a:ext cx="1078992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Transaction happens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       ↓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Analyze transaction details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       ↓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Check for suspicious patterns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       ↓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Fraud detection model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       ↓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┌───────────────┐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│               │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↓               ↓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SAFE          FRAUD</a:t>
            </a:r>
          </a:p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rPr lang="en-US" dirty="0"/>
              <a:t>✅              🚨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C3209-031A-EC12-5FC9-D08BDDD585D9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943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67C69-5270-CA4A-CF4E-31EF69745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83FFD8-8565-FE9F-35C9-679B18EBF9E9}"/>
              </a:ext>
            </a:extLst>
          </p:cNvPr>
          <p:cNvSpPr txBox="1"/>
          <p:nvPr/>
        </p:nvSpPr>
        <p:spPr>
          <a:xfrm>
            <a:off x="4876101" y="347472"/>
            <a:ext cx="240931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0F4F8"/>
                </a:solidFill>
              </a:defRPr>
            </a:pPr>
            <a:r>
              <a:rPr lang="en-US" sz="4800" dirty="0"/>
              <a:t>DATASET</a:t>
            </a:r>
            <a:endParaRPr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75E6E-90E7-32E4-9456-20712EA53B31}"/>
              </a:ext>
            </a:extLst>
          </p:cNvPr>
          <p:cNvSpPr txBox="1"/>
          <p:nvPr/>
        </p:nvSpPr>
        <p:spPr>
          <a:xfrm>
            <a:off x="731520" y="1325880"/>
            <a:ext cx="107899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EC760-8009-6685-EFEE-29DF32CA8B3B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946FC9-9317-62B7-9D62-15416647F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43102"/>
              </p:ext>
            </p:extLst>
          </p:nvPr>
        </p:nvGraphicFramePr>
        <p:xfrm>
          <a:off x="1311622" y="1480499"/>
          <a:ext cx="9478298" cy="4228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39149">
                  <a:extLst>
                    <a:ext uri="{9D8B030D-6E8A-4147-A177-3AD203B41FA5}">
                      <a16:colId xmlns:a16="http://schemas.microsoft.com/office/drawing/2014/main" val="4061131573"/>
                    </a:ext>
                  </a:extLst>
                </a:gridCol>
                <a:gridCol w="4739149">
                  <a:extLst>
                    <a:ext uri="{9D8B030D-6E8A-4147-A177-3AD203B41FA5}">
                      <a16:colId xmlns:a16="http://schemas.microsoft.com/office/drawing/2014/main" val="1102295220"/>
                    </a:ext>
                  </a:extLst>
                </a:gridCol>
              </a:tblGrid>
              <a:tr h="2163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dirty="0"/>
                        <a:t>Column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Meaning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2931271888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step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Time step of the transaction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2081656096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type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Transaction type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3431148357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amount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Transaction amount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2385517671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nameOrig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Originating account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58407465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/>
                        <a:t>oldbalanceOrg</a:t>
                      </a:r>
                      <a:endParaRPr lang="en-IN" sz="1300" dirty="0"/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Original balance before transaction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1136221924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newbalanceOrig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Balance after transaction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3288594498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nameDest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Destination account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1764587179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oldbalanceDest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Destination balance before transaction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803402161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newbalanceDest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Destination balance after transaction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912897626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isFraud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Actual fraud indicator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3617092532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isFlaggedFraud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Whether the transaction was flagged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72723312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balance_utilization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Balance utilization category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1975524335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amount_to_org_balance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Transaction amount relative to original balance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1460539298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Risk Score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Calculated transaction risk score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4166092970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Risk Level</a:t>
                      </a:r>
                    </a:p>
                  </a:txBody>
                  <a:tcPr marL="66154" marR="66154" marT="33077" marB="330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Low/Medium/High/Critical classification</a:t>
                      </a:r>
                    </a:p>
                  </a:txBody>
                  <a:tcPr marL="66154" marR="66154" marT="33077" marB="33077" anchor="ctr"/>
                </a:tc>
                <a:extLst>
                  <a:ext uri="{0D108BD9-81ED-4DB2-BD59-A6C34878D82A}">
                    <a16:rowId xmlns:a16="http://schemas.microsoft.com/office/drawing/2014/main" val="1264226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6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D68D0-305C-1BDD-4C98-BAA91314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DEC1FF-DEEF-BD11-58E2-B5D6FFA48C02}"/>
              </a:ext>
            </a:extLst>
          </p:cNvPr>
          <p:cNvSpPr txBox="1"/>
          <p:nvPr/>
        </p:nvSpPr>
        <p:spPr>
          <a:xfrm>
            <a:off x="3568152" y="347472"/>
            <a:ext cx="502522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0F4F8"/>
                </a:solidFill>
              </a:defRPr>
            </a:pPr>
            <a:r>
              <a:rPr lang="en-US" sz="5400" dirty="0"/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97735-8E9C-18E8-C4F0-23CFE23792E5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15224-FA9B-230F-01B2-8A893846A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249796"/>
              </p:ext>
            </p:extLst>
          </p:nvPr>
        </p:nvGraphicFramePr>
        <p:xfrm>
          <a:off x="2362450" y="1317340"/>
          <a:ext cx="7146258" cy="5341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676">
                  <a:extLst>
                    <a:ext uri="{9D8B030D-6E8A-4147-A177-3AD203B41FA5}">
                      <a16:colId xmlns:a16="http://schemas.microsoft.com/office/drawing/2014/main" val="3239927097"/>
                    </a:ext>
                  </a:extLst>
                </a:gridCol>
                <a:gridCol w="3364582">
                  <a:extLst>
                    <a:ext uri="{9D8B030D-6E8A-4147-A177-3AD203B41FA5}">
                      <a16:colId xmlns:a16="http://schemas.microsoft.com/office/drawing/2014/main" val="3979240217"/>
                    </a:ext>
                  </a:extLst>
                </a:gridCol>
              </a:tblGrid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Technology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Purpose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920024172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Python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Main programming language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4167585285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Pandas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 loading, cleaning, and manipulation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017087714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NumPy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Numerical calculations and array operations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872213676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Matplotlib / Seaborn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 visualization and EDA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686811045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Scikit-learn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Machine-learning models, preprocessing, and evaluation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877184698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Jupyter Notebook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 analysis and model development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857729945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Streamlit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Web application/UI for fraud prediction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61903337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Joblib / Pickle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Saving and loading the trained ML model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664625417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PaySim Dataset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Dataset used for fraud detection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648965840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Power BI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Interactive dashboard and business/data analysis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765274150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Git/GitHub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Version control and project sharing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148133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97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D52B1-914F-3D47-1A6A-85417FE2B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D6045-5B00-DAF3-0F09-9810401C3A71}"/>
              </a:ext>
            </a:extLst>
          </p:cNvPr>
          <p:cNvSpPr txBox="1"/>
          <p:nvPr/>
        </p:nvSpPr>
        <p:spPr>
          <a:xfrm>
            <a:off x="731520" y="347472"/>
            <a:ext cx="42273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0F4F8"/>
                </a:solidFill>
              </a:defRPr>
            </a:pPr>
            <a:r>
              <a:rPr lang="en-US" dirty="0"/>
              <a:t>What your system analyzes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6A745-5796-2F1E-93B6-F29EF65EECD8}"/>
              </a:ext>
            </a:extLst>
          </p:cNvPr>
          <p:cNvSpPr txBox="1"/>
          <p:nvPr/>
        </p:nvSpPr>
        <p:spPr>
          <a:xfrm>
            <a:off x="731520" y="1325880"/>
            <a:ext cx="10789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🔍 What your system analyzes</a:t>
            </a:r>
          </a:p>
          <a:p>
            <a:r>
              <a:rPr lang="en-US" dirty="0">
                <a:highlight>
                  <a:srgbClr val="C0C0C0"/>
                </a:highlight>
              </a:rPr>
              <a:t>Your project looks at transaction characteristics such as:</a:t>
            </a:r>
          </a:p>
          <a:p>
            <a:pPr lvl="0"/>
            <a:r>
              <a:rPr lang="en-US" dirty="0">
                <a:highlight>
                  <a:srgbClr val="C0C0C0"/>
                </a:highlight>
              </a:rPr>
              <a:t>Transaction type </a:t>
            </a:r>
          </a:p>
          <a:p>
            <a:pPr lvl="0"/>
            <a:r>
              <a:rPr lang="en-US" dirty="0">
                <a:highlight>
                  <a:srgbClr val="C0C0C0"/>
                </a:highlight>
              </a:rPr>
              <a:t>Transaction amount </a:t>
            </a:r>
          </a:p>
          <a:p>
            <a:pPr lvl="0"/>
            <a:r>
              <a:rPr lang="en-US" dirty="0">
                <a:highlight>
                  <a:srgbClr val="C0C0C0"/>
                </a:highlight>
              </a:rPr>
              <a:t>Sender's balance before transaction </a:t>
            </a:r>
          </a:p>
          <a:p>
            <a:pPr lvl="0"/>
            <a:r>
              <a:rPr lang="en-US" dirty="0">
                <a:highlight>
                  <a:srgbClr val="C0C0C0"/>
                </a:highlight>
              </a:rPr>
              <a:t>Sender's balance after transaction </a:t>
            </a:r>
          </a:p>
          <a:p>
            <a:pPr lvl="0"/>
            <a:r>
              <a:rPr lang="en-US" dirty="0">
                <a:highlight>
                  <a:srgbClr val="C0C0C0"/>
                </a:highlight>
              </a:rPr>
              <a:t>Receiver's balance before </a:t>
            </a:r>
            <a:r>
              <a:rPr lang="en-US" b="1" dirty="0">
                <a:highlight>
                  <a:srgbClr val="C0C0C0"/>
                </a:highlight>
              </a:rPr>
              <a:t>transaction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lvl="0"/>
            <a:r>
              <a:rPr lang="en-US" dirty="0">
                <a:highlight>
                  <a:srgbClr val="C0C0C0"/>
                </a:highlight>
              </a:rPr>
              <a:t>Receiver's balance after transaction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DF152-4B47-AB57-B644-DCB669AA0A64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02E5F-468F-FAE2-5505-BABAB8A2DF8A}"/>
              </a:ext>
            </a:extLst>
          </p:cNvPr>
          <p:cNvSpPr/>
          <p:nvPr/>
        </p:nvSpPr>
        <p:spPr>
          <a:xfrm>
            <a:off x="835742" y="3746090"/>
            <a:ext cx="10685698" cy="292903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76455-CB50-EFAC-3A67-85FD82389A03}"/>
              </a:ext>
            </a:extLst>
          </p:cNvPr>
          <p:cNvSpPr txBox="1"/>
          <p:nvPr/>
        </p:nvSpPr>
        <p:spPr>
          <a:xfrm>
            <a:off x="2212258" y="4542503"/>
            <a:ext cx="2842445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Type = TRANSFER</a:t>
            </a:r>
          </a:p>
          <a:p>
            <a:r>
              <a:rPr lang="en-US" dirty="0"/>
              <a:t>Amount = 80,000</a:t>
            </a:r>
          </a:p>
          <a:p>
            <a:r>
              <a:rPr lang="en-US" dirty="0"/>
              <a:t>Sender old balance = 80,000</a:t>
            </a:r>
          </a:p>
          <a:p>
            <a:r>
              <a:rPr lang="en-US" dirty="0"/>
              <a:t>Sender new balance =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2F1F7-66A3-CCE6-30CF-691DB92A5A44}"/>
              </a:ext>
            </a:extLst>
          </p:cNvPr>
          <p:cNvSpPr txBox="1"/>
          <p:nvPr/>
        </p:nvSpPr>
        <p:spPr>
          <a:xfrm>
            <a:off x="1401712" y="3962402"/>
            <a:ext cx="15177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398A7-6AC2-360B-3AA6-A5328B086B52}"/>
              </a:ext>
            </a:extLst>
          </p:cNvPr>
          <p:cNvSpPr txBox="1"/>
          <p:nvPr/>
        </p:nvSpPr>
        <p:spPr>
          <a:xfrm>
            <a:off x="904566" y="6037006"/>
            <a:ext cx="9564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system can identify this as potentially suspicious based on the patterns learned or rules applied.</a:t>
            </a:r>
          </a:p>
        </p:txBody>
      </p:sp>
    </p:spTree>
    <p:extLst>
      <p:ext uri="{BB962C8B-B14F-4D97-AF65-F5344CB8AC3E}">
        <p14:creationId xmlns:p14="http://schemas.microsoft.com/office/powerpoint/2010/main" val="217105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17805-BFE1-55FC-1B88-7C6F2C77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FB130B-49BA-A279-E327-2BE698FA0B9F}"/>
              </a:ext>
            </a:extLst>
          </p:cNvPr>
          <p:cNvSpPr txBox="1"/>
          <p:nvPr/>
        </p:nvSpPr>
        <p:spPr>
          <a:xfrm>
            <a:off x="786581" y="575514"/>
            <a:ext cx="10633124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Your project aims to help a financial organization:</a:t>
            </a:r>
          </a:p>
          <a:p>
            <a:r>
              <a:rPr lang="en-US" b="1" dirty="0">
                <a:solidFill>
                  <a:schemeClr val="bg1"/>
                </a:solidFill>
              </a:rPr>
              <a:t>1. Reduce financial losses 💰</a:t>
            </a:r>
          </a:p>
          <a:p>
            <a:r>
              <a:rPr lang="en-US" dirty="0">
                <a:solidFill>
                  <a:schemeClr val="bg1"/>
                </a:solidFill>
              </a:rPr>
              <a:t>Detect fraudulent transactions before they cause greater damage.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2. Improve security 🔐</a:t>
            </a:r>
          </a:p>
          <a:p>
            <a:r>
              <a:rPr lang="en-US" dirty="0">
                <a:solidFill>
                  <a:schemeClr val="bg1"/>
                </a:solidFill>
              </a:rPr>
              <a:t>Identify suspicious transaction behavior automatically.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3. Reduce manual investigation</a:t>
            </a:r>
          </a:p>
          <a:p>
            <a:r>
              <a:rPr lang="en-US" dirty="0">
                <a:solidFill>
                  <a:schemeClr val="bg1"/>
                </a:solidFill>
              </a:rPr>
              <a:t>Instead of employees checking every transaction, the system can prioritize suspicious transactions.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1,000,000 transactions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       ↓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Fraud detection system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       ↓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5,000 suspicious transactions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       ↓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Fraud investigation team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4. Improve customer trust</a:t>
            </a:r>
          </a:p>
          <a:p>
            <a:r>
              <a:rPr lang="en-US" dirty="0">
                <a:solidFill>
                  <a:schemeClr val="bg1"/>
                </a:solidFill>
              </a:rPr>
              <a:t>Better fraud prevention can help customers feel safer using digital payment services.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5. Enable real-time/near-real-time monitoring</a:t>
            </a:r>
          </a:p>
          <a:p>
            <a:r>
              <a:rPr lang="en-US" dirty="0">
                <a:solidFill>
                  <a:schemeClr val="bg1"/>
                </a:solidFill>
              </a:rPr>
              <a:t>A deployed model can potentially evaluate transactions as they occur, depending on the production architecture.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0537E5-6E08-CDA5-D8D3-57A0DD4D9C0F}"/>
              </a:ext>
            </a:extLst>
          </p:cNvPr>
          <p:cNvSpPr txBox="1"/>
          <p:nvPr/>
        </p:nvSpPr>
        <p:spPr>
          <a:xfrm>
            <a:off x="875073" y="123751"/>
            <a:ext cx="3150221" cy="529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🏢 Business Impact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942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2. Dataset Understanding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132588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463039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Size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6,362,620 rows × 11 original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474720" cy="132588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1463039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Target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isFraud: 0 = legitimate, 1 = fraudulent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474720" cy="132588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463039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Transaction types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PAYMENT, TRANSFER, CASH_OUT, DEBIT, CASH_IN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Original columns include step, type, amount, sender/receiver identifiers, balances, isFraud and isFlaggedFraud.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The project creates additional analytical features such as balance errors, merchant destination, transaction-to-balance ratio, hour, day and time period.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Data quality checks in the notebooks show no missing values and 0 duplicate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3. Data Quality &amp;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29184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19"/>
            <a:ext cx="2926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Missing values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0 missing values across the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280160"/>
            <a:ext cx="329184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417319"/>
            <a:ext cx="2926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Duplicates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0 duplicate rows removed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80160"/>
            <a:ext cx="329184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417319"/>
            <a:ext cx="2926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Identifiers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nameOrig starts with C; nameDest starts with C or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String fields were stripped of leading/trailing whitespace.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Numeric and categorical columns were inspected through dtypes, unique values and frequency counts.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Fraud class counts: 6,354,407 legitimate vs 8,213 fraudulent transactions.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Fraud prevalence is only about 0.129%, making class imbalance a central modeling issue.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4. Feature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2743200" cy="132588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2377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errorBalanceOrg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oldbalanceOrg − amount − newbalanceOrig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234440"/>
            <a:ext cx="2743200" cy="132588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03320" y="1371600"/>
            <a:ext cx="2377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errorBalanceDest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newbalanceDest + amount − oldbalanceDest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234440"/>
            <a:ext cx="2468880" cy="132588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371600"/>
            <a:ext cx="21031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isMerchantDest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1 if destination starts with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234440"/>
            <a:ext cx="2468880" cy="132588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81159" y="1371600"/>
            <a:ext cx="21031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amount_to_org_balance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amount / (oldbalanceOrg + 1e−5)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Time features: hour and day are derived from step; the dashboard also uses time_period.</a:t>
            </a:r>
          </a:p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large_transaction is defined in the dashboard as amount &gt; 200,000.</a:t>
            </a:r>
          </a:p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These features translate raw transaction values into signals that may be more meaningful for fraud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5. 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t>Transaction volume is dominated by CASH_OUT and PAYMENT, followed by CASH_IN, TRANSFER and DEBIT.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t>The fraud target is extremely imbalanced: only 8,213 of 6.36 million rows are fraud.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t>EDA examines relationships between transaction amount, balances, transaction type, time and fraud.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t>Balance-related derived features are especially useful because suspicious transactions can violate expected balance relationships.</a:t>
            </a:r>
          </a:p>
          <a:p>
            <a:pPr>
              <a:spcAft>
                <a:spcPts val="1100"/>
              </a:spcAft>
              <a:defRPr sz="1900">
                <a:solidFill>
                  <a:srgbClr val="F0F4F8"/>
                </a:solidFill>
              </a:defRPr>
            </a:pPr>
            <a:r>
              <a:t>Use the EDA charts to explain patterns first; use the ML model afterward to make predictions.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F364A-FA15-5681-833C-34E0A7846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1E7AFC-96D4-C079-4605-0380ECB7C7DE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1C1E8-3CB6-CB19-6B8B-BD2F38EA12CE}"/>
              </a:ext>
            </a:extLst>
          </p:cNvPr>
          <p:cNvSpPr txBox="1"/>
          <p:nvPr/>
        </p:nvSpPr>
        <p:spPr>
          <a:xfrm>
            <a:off x="1459832" y="320842"/>
            <a:ext cx="90295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🌐 How your </a:t>
            </a:r>
            <a:r>
              <a:rPr lang="en-US" sz="4400" dirty="0" err="1">
                <a:solidFill>
                  <a:schemeClr val="bg1"/>
                </a:solidFill>
              </a:rPr>
              <a:t>Streamlit</a:t>
            </a:r>
            <a:r>
              <a:rPr lang="en-US" sz="4400" dirty="0">
                <a:solidFill>
                  <a:schemeClr val="bg1"/>
                </a:solidFill>
              </a:rPr>
              <a:t> application fits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06751A-39D2-82F8-060E-50B9E3293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95083"/>
            <a:ext cx="7746155" cy="493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36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6. Machine Learning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320040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2834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Input (X)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Transaction type + amount + sender/receiver balances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25880"/>
            <a:ext cx="320040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0" y="1463039"/>
            <a:ext cx="2834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Target (y)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isFraud</a:t>
            </a:r>
            <a:br/>
            <a:r>
              <a:t>0 or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325880"/>
            <a:ext cx="320040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59" y="1463039"/>
            <a:ext cx="2834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Split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70% training / 30% testing</a:t>
            </a:r>
            <a:br/>
            <a:r>
              <a:t>stratified by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The ML notebook defines y = isFraud and x = all remaining model columns.</a:t>
            </a:r>
          </a:p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The model pipeline ultimately uses five numeric fields plus the categorical transaction type.</a:t>
            </a:r>
          </a:p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Stratification preserves the rare fraud class proportion in train and test 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7.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108960" cy="155448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Numeric preprocessing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StandardScaler on amount and four balance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71600"/>
            <a:ext cx="3108960" cy="155448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916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Categorical preprocessing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OneHotEncoder(drop='first', handle_unknown='ignore') on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371600"/>
            <a:ext cx="3108960" cy="155448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Classifier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LogisticRegression(class_weight='balanced', max_iter=1000)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ColumnTransformer applies the correct transformation to each data type.</a:t>
            </a:r>
          </a:p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Pipeline combines preprocessing and classification into one fitted object.</a:t>
            </a:r>
          </a:p>
          <a:p>
            <a:pPr>
              <a:spcAft>
                <a:spcPts val="1100"/>
              </a:spcAft>
              <a:defRPr sz="1800">
                <a:solidFill>
                  <a:srgbClr val="F0F4F8"/>
                </a:solidFill>
              </a:defRPr>
            </a:pPr>
            <a:r>
              <a:t>class_weight='balanced' gives more importance to the minority fraud class during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8. How the Prediction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205740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691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1. User input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type + amount + balances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828800"/>
            <a:ext cx="205740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46120" y="1965960"/>
            <a:ext cx="1691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2. DataFrame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one transaction 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828800"/>
            <a:ext cx="205740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0" y="1965960"/>
            <a:ext cx="1691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3. Preprocess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scale numeric + encode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828800"/>
            <a:ext cx="205740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965960"/>
            <a:ext cx="1691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4. Logistic model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learned decision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828800"/>
            <a:ext cx="205740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0" y="1965960"/>
            <a:ext cx="1691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5. Output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0 /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0F4F8"/>
                </a:solidFill>
              </a:defRPr>
            </a:pPr>
            <a:r>
              <a:t>The Streamlit prediction notebook loads fraud_detection_pipeline.pkl with joblib.</a:t>
            </a:r>
          </a:p>
          <a:p>
            <a:pPr>
              <a:spcAft>
                <a:spcPts val="1100"/>
              </a:spcAft>
              <a:defRPr sz="1600">
                <a:solidFill>
                  <a:srgbClr val="F0F4F8"/>
                </a:solidFill>
              </a:defRPr>
            </a:pPr>
            <a:r>
              <a:t>It creates a one-row DataFrame from the form values and calls model.predict(input_data).</a:t>
            </a:r>
          </a:p>
          <a:p>
            <a:pPr>
              <a:spcAft>
                <a:spcPts val="1100"/>
              </a:spcAft>
              <a:defRPr sz="1600">
                <a:solidFill>
                  <a:srgbClr val="F0F4F8"/>
                </a:solidFill>
              </a:defRPr>
            </a:pPr>
            <a:r>
              <a:t>Prediction 1 is displayed as potentially fraudulent; prediction 0 is displayed as not fraudulent.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9. Model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38328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017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Accuracy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94.54%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38328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017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Fraud recall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94% (class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383280" cy="141732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371600"/>
            <a:ext cx="3017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Fraud precision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2% (class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Confusion matrix: TN = 1,802,246; FP = 104,076; FN = 153; TP = 2,311.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The model catches most fraud cases (high recall), but it also produces many false positives.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Therefore, the 94.54% accuracy should NOT be presented as the only measure of success.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For fraud detection, recall and precision are important because missing fraud and incorrectly flagging legitimate transactions have different business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10. Streamlit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3474720" cy="1463040"/>
          </a:xfrm>
          <a:prstGeom prst="roundRect">
            <a:avLst/>
          </a:prstGeom>
          <a:solidFill>
            <a:srgbClr val="121F34"/>
          </a:solidFill>
          <a:ln>
            <a:solidFill>
              <a:srgbClr val="3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19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BEAA"/>
                </a:solidFill>
              </a:defRPr>
            </a:pPr>
            <a:r>
              <a:t>Executive Overview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Total transactions, total volume, fraud transactions and fraud rate; transaction-type charts.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74720" cy="146304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417319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Fraud Analysis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Fraud incidents by hour and amount vs sender old 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80160"/>
            <a:ext cx="3474720" cy="146304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19" y="1417319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Risk &amp; Account Analysis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Risk-level breakdown and top high-risk transactions.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The dashboard loads paysim_final.csv and uses Plotly charts.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Risk rules in app.py label a row High Risk when isFraud = 1; Medium Risk when it is a large transaction or has a non-zero origin balance error; otherwise Low Risk.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A transaction-type multiselect filters the dashboard views.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11. 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F0F4F8"/>
                </a:solidFill>
              </a:defRPr>
            </a:pPr>
            <a:r>
              <a:t>Raw PaySim data → profiling &amp; validation → cleaning → feature engineering → EDA → model dataset → train/test split → preprocessing pipeline → Logistic Regression → saved .pkl model → Streamlit prediction app.</a:t>
            </a:r>
          </a:p>
          <a:p>
            <a:pPr>
              <a:spcAft>
                <a:spcPts val="1100"/>
              </a:spcAft>
              <a:defRPr sz="2000">
                <a:solidFill>
                  <a:srgbClr val="F0F4F8"/>
                </a:solidFill>
              </a:defRPr>
            </a:pPr>
            <a:r>
              <a:t>Supporting artifacts include notebooks for data profiling and ML, Python/Streamlit scripts, the serialized pipeline and a project presentation.</a:t>
            </a:r>
          </a:p>
          <a:p>
            <a:pPr>
              <a:spcAft>
                <a:spcPts val="1100"/>
              </a:spcAft>
              <a:defRPr sz="2000">
                <a:solidFill>
                  <a:srgbClr val="F0F4F8"/>
                </a:solidFill>
              </a:defRPr>
            </a:pPr>
            <a:r>
              <a:t>The project separates analysis/model development from the prediction interface, which makes the workflow easier to explain and deploy.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3407F-069A-4C80-1CD2-CF4CFC49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9325C-4FC2-0E4C-393F-AD33A68F37D2}"/>
              </a:ext>
            </a:extLst>
          </p:cNvPr>
          <p:cNvSpPr txBox="1"/>
          <p:nvPr/>
        </p:nvSpPr>
        <p:spPr>
          <a:xfrm>
            <a:off x="594360" y="365760"/>
            <a:ext cx="786869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rPr lang="en-US" sz="6000" dirty="0"/>
              <a:t>DASHBOARD OBJECTIVE</a:t>
            </a:r>
            <a:endParaRPr sz="6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6B8D8-1112-91DF-695F-C4DB82606000}"/>
              </a:ext>
            </a:extLst>
          </p:cNvPr>
          <p:cNvSpPr txBox="1"/>
          <p:nvPr/>
        </p:nvSpPr>
        <p:spPr>
          <a:xfrm>
            <a:off x="640080" y="1508760"/>
            <a:ext cx="106070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The dashboard contains slicers and cross-filtering. When the user selects a transaction type, risk level, fraud status, time period or balance utilization category, the KPIs and visualizations dynamically update based on that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D797F-CD3B-6038-2744-461A9EFA25D1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86279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27B4-FFA6-3D64-1C63-66C68764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0E7FD-2C2D-9C0C-32D5-98AE824D34E1}"/>
              </a:ext>
            </a:extLst>
          </p:cNvPr>
          <p:cNvSpPr txBox="1"/>
          <p:nvPr/>
        </p:nvSpPr>
        <p:spPr>
          <a:xfrm>
            <a:off x="594360" y="365760"/>
            <a:ext cx="429508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rPr lang="en-US" sz="6000" dirty="0"/>
              <a:t>DASHBOARD</a:t>
            </a:r>
            <a:endParaRPr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76688-E6E4-29BC-0C67-3502DFCAA11A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A10AC-384D-1EB3-ED7B-E62EDCD65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1" t="19785" r="25000" b="12115"/>
          <a:stretch>
            <a:fillRect/>
          </a:stretch>
        </p:blipFill>
        <p:spPr>
          <a:xfrm>
            <a:off x="414904" y="1381644"/>
            <a:ext cx="11362192" cy="511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28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C7EE8-30F8-D212-1DA3-C9D6C6CA6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96C44-7F74-EF48-67C7-DEC25398ECF2}"/>
              </a:ext>
            </a:extLst>
          </p:cNvPr>
          <p:cNvSpPr txBox="1"/>
          <p:nvPr/>
        </p:nvSpPr>
        <p:spPr>
          <a:xfrm>
            <a:off x="594360" y="365760"/>
            <a:ext cx="455387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rPr lang="en-US" sz="6000" dirty="0"/>
              <a:t>KEY INSIGHTS</a:t>
            </a:r>
            <a:endParaRPr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C1110-5503-9C8F-431D-814252E2AE78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8CBFF-8815-1D4C-3F7E-CC937C138068}"/>
              </a:ext>
            </a:extLst>
          </p:cNvPr>
          <p:cNvSpPr txBox="1"/>
          <p:nvPr/>
        </p:nvSpPr>
        <p:spPr>
          <a:xfrm>
            <a:off x="368968" y="2265520"/>
            <a:ext cx="1151315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Fraud represents a very small percentage of total transaction volume.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High-risk transactions require investigation even when overall fraud volume</a:t>
            </a:r>
          </a:p>
          <a:p>
            <a:r>
              <a:rPr lang="en-IN" sz="2800" dirty="0">
                <a:solidFill>
                  <a:schemeClr val="bg1"/>
                </a:solidFill>
              </a:rPr>
              <a:t> is 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Transaction type is an important fraud-analysis dimension.</a:t>
            </a:r>
            <a:endParaRPr lang="en-IN" sz="2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High balance utilization can indicate potentially unusual transactions.</a:t>
            </a:r>
            <a:endParaRPr lang="en-IN" sz="2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Transaction-to-balance ratio can identify unusual transactions.</a:t>
            </a:r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424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3249F-96A2-D022-2D96-08C3561B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E7F96C-1C55-D9AB-C1C3-7E07397A0416}"/>
              </a:ext>
            </a:extLst>
          </p:cNvPr>
          <p:cNvSpPr txBox="1"/>
          <p:nvPr/>
        </p:nvSpPr>
        <p:spPr>
          <a:xfrm>
            <a:off x="594360" y="365760"/>
            <a:ext cx="645074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rPr lang="en-US" sz="6000" dirty="0"/>
              <a:t>BUSINESS BENEFITS</a:t>
            </a:r>
            <a:endParaRPr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E4CD0-20F9-F215-06C8-1B4F7138A760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D54D4-6C29-582F-7390-9FFF1FC31EC8}"/>
              </a:ext>
            </a:extLst>
          </p:cNvPr>
          <p:cNvSpPr txBox="1"/>
          <p:nvPr/>
        </p:nvSpPr>
        <p:spPr>
          <a:xfrm>
            <a:off x="1418665" y="1503520"/>
            <a:ext cx="945412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Benefits: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Faster fraud investigation 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Easy monitoring 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Risk prioritization 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Interactive analysis 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Reduced manual effort 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Better decision-making 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Easy identification of suspicious transactions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681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13. Important Limitation to Explain Clearly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39"/>
            <a:ext cx="47548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Model limitation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High recall comes with very low fraud precision (2%). In production, many legitimate transactions could be flagged and require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12064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463039"/>
            <a:ext cx="47548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Dashboard limitation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The current prediction UI is separate from the analytical risk dashboard. Also, the simple app.py version only demonstrates the UI and does not call the saved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Do not claim the model is 94% accurate at identifying fraud. The reported 94.54% is overall accuracy.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Do not say the model is production-ready. The project evidence supports a working academic prototype.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Future work: compare tree-based models, tune the decision threshold, evaluate PR-AUC, and reduce false positives.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9BC3E-AE23-D5D9-58D6-4DDE0BA7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C37375-404F-7750-7B54-26BAF75FC4DF}"/>
              </a:ext>
            </a:extLst>
          </p:cNvPr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13. Important Limitation to Explain Clearly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A7F0AD6-9D71-40E1-5071-EEBC56DA4A15}"/>
              </a:ext>
            </a:extLst>
          </p:cNvPr>
          <p:cNvSpPr/>
          <p:nvPr/>
        </p:nvSpPr>
        <p:spPr>
          <a:xfrm>
            <a:off x="731520" y="1325880"/>
            <a:ext cx="512064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338F1-C369-6DAE-ECFA-03963617D8FC}"/>
              </a:ext>
            </a:extLst>
          </p:cNvPr>
          <p:cNvSpPr txBox="1"/>
          <p:nvPr/>
        </p:nvSpPr>
        <p:spPr>
          <a:xfrm>
            <a:off x="914400" y="1463039"/>
            <a:ext cx="47548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B5B5B"/>
                </a:solidFill>
              </a:defRPr>
            </a:pPr>
            <a:r>
              <a:t>Model limitation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High recall comes with very low fraud precision (2%). In production, many legitimate transactions could be flagged and require review.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095B1E-1A40-969F-E609-2E56B2946D35}"/>
              </a:ext>
            </a:extLst>
          </p:cNvPr>
          <p:cNvSpPr/>
          <p:nvPr/>
        </p:nvSpPr>
        <p:spPr>
          <a:xfrm>
            <a:off x="6309360" y="1325880"/>
            <a:ext cx="5120640" cy="1828800"/>
          </a:xfrm>
          <a:prstGeom prst="roundRect">
            <a:avLst/>
          </a:prstGeom>
          <a:solidFill>
            <a:srgbClr val="121F34"/>
          </a:solidFill>
          <a:ln>
            <a:solidFill>
              <a:srgbClr val="F0A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973A2-2F26-F53C-0C8F-57DAC24C8428}"/>
              </a:ext>
            </a:extLst>
          </p:cNvPr>
          <p:cNvSpPr txBox="1"/>
          <p:nvPr/>
        </p:nvSpPr>
        <p:spPr>
          <a:xfrm>
            <a:off x="6492240" y="1463039"/>
            <a:ext cx="47548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0AD4E"/>
                </a:solidFill>
              </a:defRPr>
            </a:pPr>
            <a:r>
              <a:t>Dashboard limitation</a:t>
            </a:r>
          </a:p>
          <a:p>
            <a:pPr>
              <a:spcBef>
                <a:spcPts val="700"/>
              </a:spcBef>
              <a:defRPr sz="1300">
                <a:solidFill>
                  <a:srgbClr val="F0F4F8"/>
                </a:solidFill>
              </a:defRPr>
            </a:pPr>
            <a:r>
              <a:t>The current prediction UI is separate from the analytical risk dashboard. Also, the simple app.py version only demonstrates the UI and does not call the saved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F0CCA-8048-75F7-CEE5-2CF4237C2430}"/>
              </a:ext>
            </a:extLst>
          </p:cNvPr>
          <p:cNvSpPr txBox="1"/>
          <p:nvPr/>
        </p:nvSpPr>
        <p:spPr>
          <a:xfrm>
            <a:off x="822960" y="36576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Do not claim the model is 94% accurate at identifying fraud. The reported 94.54% is overall accuracy.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Do not say the model is production-ready. The project evidence supports a working academic prototype.</a:t>
            </a:r>
          </a:p>
          <a:p>
            <a:pPr>
              <a:spcAft>
                <a:spcPts val="1100"/>
              </a:spcAft>
              <a:defRPr sz="1700">
                <a:solidFill>
                  <a:srgbClr val="F0F4F8"/>
                </a:solidFill>
              </a:defRPr>
            </a:pPr>
            <a:r>
              <a:t>Future work: compare tree-based models, tune the decision threshold, evaluate PR-AUC, and reduce false positives.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27916-61F6-F446-45AE-4D06EA2D1303}"/>
              </a:ext>
            </a:extLst>
          </p:cNvPr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89552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F0F4F8"/>
                </a:solidFill>
              </a:defRPr>
            </a:pPr>
            <a:r>
              <a:t>The project demonstrates an end-to-end fraud analytics workflow: understand → validate → engineer features → explore → model → evaluate → deploy a prediction interface.</a:t>
            </a:r>
          </a:p>
          <a:p>
            <a:pPr>
              <a:spcAft>
                <a:spcPts val="1100"/>
              </a:spcAft>
              <a:defRPr sz="2100">
                <a:solidFill>
                  <a:srgbClr val="F0F4F8"/>
                </a:solidFill>
              </a:defRPr>
            </a:pPr>
            <a:r>
              <a:t>PaySim’s severe class imbalance is the key modeling challenge.</a:t>
            </a:r>
          </a:p>
          <a:p>
            <a:pPr>
              <a:spcAft>
                <a:spcPts val="1100"/>
              </a:spcAft>
              <a:defRPr sz="2100">
                <a:solidFill>
                  <a:srgbClr val="F0F4F8"/>
                </a:solidFill>
              </a:defRPr>
            </a:pPr>
            <a:r>
              <a:t>Logistic Regression with balanced class weights successfully captures most fraud cases, but its low precision shows that further model/threshold improvement is needed.</a:t>
            </a:r>
          </a:p>
          <a:p>
            <a:pPr>
              <a:spcAft>
                <a:spcPts val="1100"/>
              </a:spcAft>
              <a:defRPr sz="2100">
                <a:solidFill>
                  <a:srgbClr val="F0F4F8"/>
                </a:solidFill>
              </a:defRPr>
            </a:pPr>
            <a:r>
              <a:t>The Streamlit interface turns the trained pipeline into a simple interactive prediction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56235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0BEA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0BEC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2025</Words>
  <Application>Microsoft Office PowerPoint</Application>
  <PresentationFormat>Widescreen</PresentationFormat>
  <Paragraphs>285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Amisha Jain</cp:lastModifiedBy>
  <cp:revision>2</cp:revision>
  <dcterms:created xsi:type="dcterms:W3CDTF">2013-01-27T09:14:16Z</dcterms:created>
  <dcterms:modified xsi:type="dcterms:W3CDTF">2026-09-09T13:45:09Z</dcterms:modified>
  <cp:category/>
</cp:coreProperties>
</file>